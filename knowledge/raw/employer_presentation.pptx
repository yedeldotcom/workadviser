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2"/>
  </p:notesMasterIdLst>
  <p:sldIdLst>
    <p:sldId id="263" r:id="rId2"/>
    <p:sldId id="266" r:id="rId3"/>
    <p:sldId id="265" r:id="rId4"/>
    <p:sldId id="367" r:id="rId5"/>
    <p:sldId id="369" r:id="rId6"/>
    <p:sldId id="371" r:id="rId7"/>
    <p:sldId id="374" r:id="rId8"/>
    <p:sldId id="375" r:id="rId9"/>
    <p:sldId id="372" r:id="rId10"/>
    <p:sldId id="37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378" userDrawn="1">
          <p15:clr>
            <a:srgbClr val="A4A3A4"/>
          </p15:clr>
        </p15:guide>
        <p15:guide id="4" pos="302" userDrawn="1">
          <p15:clr>
            <a:srgbClr val="A4A3A4"/>
          </p15:clr>
        </p15:guide>
        <p15:guide id="5" orient="horz" pos="4133" userDrawn="1">
          <p15:clr>
            <a:srgbClr val="A4A3A4"/>
          </p15:clr>
        </p15:guide>
        <p15:guide id="6" orient="horz" pos="414" userDrawn="1">
          <p15:clr>
            <a:srgbClr val="A4A3A4"/>
          </p15:clr>
        </p15:guide>
        <p15:guide id="7" orient="horz" pos="1842" userDrawn="1">
          <p15:clr>
            <a:srgbClr val="A4A3A4"/>
          </p15:clr>
        </p15:guide>
        <p15:guide id="8" orient="horz" pos="9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1645A"/>
    <a:srgbClr val="406459"/>
    <a:srgbClr val="9FC4CF"/>
    <a:srgbClr val="F8E186"/>
    <a:srgbClr val="F6E5DC"/>
    <a:srgbClr val="E2ECE3"/>
    <a:srgbClr val="E4EEF1"/>
    <a:srgbClr val="7EAA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8" autoAdjust="0"/>
    <p:restoredTop sz="94664"/>
  </p:normalViewPr>
  <p:slideViewPr>
    <p:cSldViewPr snapToGrid="0">
      <p:cViewPr varScale="1">
        <p:scale>
          <a:sx n="106" d="100"/>
          <a:sy n="106" d="100"/>
        </p:scale>
        <p:origin x="852" y="96"/>
      </p:cViewPr>
      <p:guideLst>
        <p:guide orient="horz" pos="2160"/>
        <p:guide pos="3840"/>
        <p:guide pos="7378"/>
        <p:guide pos="302"/>
        <p:guide orient="horz" pos="4133"/>
        <p:guide orient="horz" pos="414"/>
        <p:guide orient="horz" pos="1842"/>
        <p:guide orient="horz" pos="913"/>
      </p:guideLst>
    </p:cSldViewPr>
  </p:slideViewPr>
  <p:notesTextViewPr>
    <p:cViewPr>
      <p:scale>
        <a:sx n="135" d="100"/>
        <a:sy n="13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D03285-479C-F041-BE9B-C65F627F55D4}" type="datetimeFigureOut">
              <a:rPr lang="en-IL" smtClean="0"/>
              <a:t>02/10/2026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90901C-3D2D-6C41-9991-F3741E64792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4840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90901C-3D2D-6C41-9991-F3741E647929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05505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A9538-F1CF-AF3B-73C1-988CABD93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E697A244-906B-B353-51D2-5AF6578A8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4213" y="1143000"/>
            <a:ext cx="5487987" cy="3086100"/>
          </a:xfrm>
        </p:spPr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26D26974-9061-9163-5F08-B73AE98CE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r" rtl="1">
              <a:lnSpc>
                <a:spcPct val="150000"/>
              </a:lnSpc>
              <a:buFont typeface="Symbol" panose="05050102010706020507" pitchFamily="18" charset="2"/>
              <a:buNone/>
            </a:pPr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91FEAEC-0C1C-A15F-1244-54DC42EF71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90901C-3D2D-6C41-9991-F3741E647929}" type="slidenum">
              <a:rPr kumimoji="0" lang="en-I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7255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DED7D-DCD5-F71C-B3F4-7F61C9DEC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B6B0EF-8F24-B716-7250-B6C64A7A1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A95A87-A22C-03F8-2CD1-C23008AFA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F186A-B1CF-0550-8D95-BD19F6575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90901C-3D2D-6C41-9991-F3741E647929}" type="slidenum">
              <a:rPr kumimoji="0" lang="en-I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3343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F6CD-A78A-FB4A-AC35-1D2AFF8E062D}" type="datetimeFigureOut">
              <a:rPr lang="en-IL" smtClean="0"/>
              <a:t>02/10/2026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9475B-427F-A549-AC34-D8582FCD2F2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31824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F6CD-A78A-FB4A-AC35-1D2AFF8E062D}" type="datetimeFigureOut">
              <a:rPr lang="en-IL" smtClean="0"/>
              <a:t>02/10/2026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9475B-427F-A549-AC34-D8582FCD2F2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32666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F6CD-A78A-FB4A-AC35-1D2AFF8E062D}" type="datetimeFigureOut">
              <a:rPr lang="en-IL" smtClean="0"/>
              <a:t>02/10/2026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9475B-427F-A549-AC34-D8582FCD2F2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76723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F6CD-A78A-FB4A-AC35-1D2AFF8E062D}" type="datetimeFigureOut">
              <a:rPr lang="en-IL" smtClean="0"/>
              <a:t>02/10/2026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9475B-427F-A549-AC34-D8582FCD2F2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61300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F6CD-A78A-FB4A-AC35-1D2AFF8E062D}" type="datetimeFigureOut">
              <a:rPr lang="en-IL" smtClean="0"/>
              <a:t>02/10/2026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9475B-427F-A549-AC34-D8582FCD2F2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79178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F6CD-A78A-FB4A-AC35-1D2AFF8E062D}" type="datetimeFigureOut">
              <a:rPr lang="en-IL" smtClean="0"/>
              <a:t>02/10/2026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9475B-427F-A549-AC34-D8582FCD2F2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56473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F6CD-A78A-FB4A-AC35-1D2AFF8E062D}" type="datetimeFigureOut">
              <a:rPr lang="en-IL" smtClean="0"/>
              <a:t>02/10/2026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9475B-427F-A549-AC34-D8582FCD2F2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76043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F6CD-A78A-FB4A-AC35-1D2AFF8E062D}" type="datetimeFigureOut">
              <a:rPr lang="en-IL" smtClean="0"/>
              <a:t>02/10/2026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9475B-427F-A549-AC34-D8582FCD2F2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02100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F6CD-A78A-FB4A-AC35-1D2AFF8E062D}" type="datetimeFigureOut">
              <a:rPr lang="en-IL" smtClean="0"/>
              <a:t>02/10/2026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9475B-427F-A549-AC34-D8582FCD2F2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506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F6CD-A78A-FB4A-AC35-1D2AFF8E062D}" type="datetimeFigureOut">
              <a:rPr lang="en-IL" smtClean="0"/>
              <a:t>02/10/2026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9475B-427F-A549-AC34-D8582FCD2F2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0582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1F6CD-A78A-FB4A-AC35-1D2AFF8E062D}" type="datetimeFigureOut">
              <a:rPr lang="en-IL" smtClean="0"/>
              <a:t>02/10/2026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9475B-427F-A549-AC34-D8582FCD2F2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2209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1F6CD-A78A-FB4A-AC35-1D2AFF8E062D}" type="datetimeFigureOut">
              <a:rPr lang="en-IL" smtClean="0"/>
              <a:t>02/10/2026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9475B-427F-A549-AC34-D8582FCD2F2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89299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emf"/><Relationship Id="rId7" Type="http://schemas.openxmlformats.org/officeDocument/2006/relationships/hyperlink" Target="https://www.youtube.com/watch?si=rDN5amqUG5uWyDss&amp;v=xovkJzQTNLU&amp;feature=youtu.b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hyperlink" Target="https://youtu.be/xovkJzQTNLU?si=rDN5amqUG5uWyDss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D5C6E9-3AD4-1D36-6063-2DDAF23D5F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2ECE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IL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CFC0F01-8C2B-A337-2856-B382E50AE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72826"/>
            <a:ext cx="12204000" cy="50826"/>
          </a:xfrm>
          <a:prstGeom prst="rect">
            <a:avLst/>
          </a:prstGeom>
        </p:spPr>
      </p:pic>
      <p:pic>
        <p:nvPicPr>
          <p:cNvPr id="5" name="Picture 4" descr="A black background with green text&#10;&#10;Description automatically generated">
            <a:extLst>
              <a:ext uri="{FF2B5EF4-FFF2-40B4-BE49-F238E27FC236}">
                <a16:creationId xmlns:a16="http://schemas.microsoft.com/office/drawing/2014/main" id="{54CA9C8D-63DB-6F4D-4EA6-1398F94BF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778" y="6371910"/>
            <a:ext cx="2096334" cy="236476"/>
          </a:xfrm>
          <a:prstGeom prst="rect">
            <a:avLst/>
          </a:prstGeom>
        </p:spPr>
      </p:pic>
      <p:sp>
        <p:nvSpPr>
          <p:cNvPr id="2" name="כותרת משנה 1">
            <a:extLst>
              <a:ext uri="{FF2B5EF4-FFF2-40B4-BE49-F238E27FC236}">
                <a16:creationId xmlns:a16="http://schemas.microsoft.com/office/drawing/2014/main" id="{0EB3F7F6-F728-5071-C361-B83B9BB5649B}"/>
              </a:ext>
            </a:extLst>
          </p:cNvPr>
          <p:cNvSpPr txBox="1">
            <a:spLocks/>
          </p:cNvSpPr>
          <p:nvPr/>
        </p:nvSpPr>
        <p:spPr>
          <a:xfrm>
            <a:off x="433162" y="727220"/>
            <a:ext cx="5662838" cy="1855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he-IL" sz="4000" b="1" dirty="0">
                <a:solidFill>
                  <a:srgbClr val="3E6359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"משדה-הקרב אל </a:t>
            </a:r>
            <a:br>
              <a:rPr lang="en-US" sz="4000" b="1" dirty="0">
                <a:solidFill>
                  <a:srgbClr val="3E6359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</a:br>
            <a:r>
              <a:rPr lang="he-IL" sz="4000" b="1" dirty="0">
                <a:solidFill>
                  <a:srgbClr val="3E6359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שולחן העבודה"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he-IL" b="1" dirty="0">
                <a:solidFill>
                  <a:srgbClr val="3E6359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ניהול מיודע טראומה לאחר המלחמה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he-IL" b="1" dirty="0">
                <a:solidFill>
                  <a:srgbClr val="3E6359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או בסבבי מילואים מתמשכים</a:t>
            </a:r>
            <a:endParaRPr lang="en-US" b="1" dirty="0">
              <a:solidFill>
                <a:srgbClr val="3E6359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pic>
        <p:nvPicPr>
          <p:cNvPr id="4" name="תמונה 6">
            <a:hlinkClick r:id="rId5"/>
            <a:extLst>
              <a:ext uri="{FF2B5EF4-FFF2-40B4-BE49-F238E27FC236}">
                <a16:creationId xmlns:a16="http://schemas.microsoft.com/office/drawing/2014/main" id="{D1EE57A4-07A9-DAC3-7C81-DD7DDF7D3B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853" y="497224"/>
            <a:ext cx="5386485" cy="5386485"/>
          </a:xfrm>
          <a:prstGeom prst="rect">
            <a:avLst/>
          </a:prstGeom>
        </p:spPr>
      </p:pic>
      <p:pic>
        <p:nvPicPr>
          <p:cNvPr id="6" name="Google Shape;177;p2" descr="A red and white play button&#10;&#10;Description automatically generated">
            <a:hlinkClick r:id="rId7"/>
            <a:extLst>
              <a:ext uri="{FF2B5EF4-FFF2-40B4-BE49-F238E27FC236}">
                <a16:creationId xmlns:a16="http://schemas.microsoft.com/office/drawing/2014/main" id="{F20AF50D-A365-3F05-47F7-7657D582CABA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29161" y="5549772"/>
            <a:ext cx="341779" cy="252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187E30-219F-9EB0-B370-F49B067542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6744" y="3429000"/>
            <a:ext cx="4715673" cy="2829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471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39667B2-ACD9-38FA-9983-34657B49644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72826"/>
            <a:ext cx="12204000" cy="50826"/>
          </a:xfrm>
          <a:prstGeom prst="rect">
            <a:avLst/>
          </a:prstGeom>
        </p:spPr>
      </p:pic>
      <p:pic>
        <p:nvPicPr>
          <p:cNvPr id="12" name="Picture 11" descr="A black background with green text&#10;&#10;Description automatically generated">
            <a:extLst>
              <a:ext uri="{FF2B5EF4-FFF2-40B4-BE49-F238E27FC236}">
                <a16:creationId xmlns:a16="http://schemas.microsoft.com/office/drawing/2014/main" id="{9DAB2556-557E-8FC4-1D1B-798EC90C4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778" y="6371910"/>
            <a:ext cx="2096334" cy="236476"/>
          </a:xfrm>
          <a:prstGeom prst="rect">
            <a:avLst/>
          </a:prstGeom>
        </p:spPr>
      </p:pic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F64433A-E9B1-00DD-707F-BE188064A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588" y="1444866"/>
            <a:ext cx="5253563" cy="3818562"/>
          </a:xfrm>
        </p:spPr>
        <p:txBody>
          <a:bodyPr>
            <a:noAutofit/>
          </a:bodyPr>
          <a:lstStyle/>
          <a:p>
            <a:pPr marL="342900" indent="-342900" algn="r">
              <a:lnSpc>
                <a:spcPct val="150000"/>
              </a:lnSpc>
              <a:buFont typeface="+mj-lt"/>
              <a:buAutoNum type="arabicPeriod"/>
            </a:pPr>
            <a:r>
              <a:rPr lang="he-IL" sz="2000" b="1" dirty="0">
                <a:solidFill>
                  <a:srgbClr val="41645A"/>
                </a:solidFill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  <a:t>איום פתאומי על החיים</a:t>
            </a:r>
            <a:endParaRPr lang="en-US" sz="2000" b="1" dirty="0">
              <a:solidFill>
                <a:srgbClr val="41645A"/>
              </a:solidFill>
              <a:latin typeface="Calibri" panose="020F0502020204030204" pitchFamily="34" charset="0"/>
              <a:ea typeface="Arial Unicode MS" panose="020B0604020202020204" pitchFamily="34" charset="-128"/>
              <a:cs typeface="Calibri" panose="020F0502020204030204" pitchFamily="34" charset="0"/>
            </a:endParaRPr>
          </a:p>
          <a:p>
            <a:pPr marL="342900" indent="-342900" algn="r">
              <a:lnSpc>
                <a:spcPct val="150000"/>
              </a:lnSpc>
              <a:buFont typeface="+mj-lt"/>
              <a:buAutoNum type="arabicPeriod"/>
            </a:pPr>
            <a:r>
              <a:rPr lang="he-IL" sz="2000" b="1" dirty="0">
                <a:solidFill>
                  <a:srgbClr val="41645A"/>
                </a:solidFill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  <a:t>שבירת הרצף המוכר והידוע</a:t>
            </a:r>
            <a:endParaRPr lang="en-US" sz="2000" b="1" dirty="0">
              <a:solidFill>
                <a:srgbClr val="41645A"/>
              </a:solidFill>
              <a:latin typeface="Calibri" panose="020F0502020204030204" pitchFamily="34" charset="0"/>
              <a:ea typeface="Arial Unicode MS" panose="020B0604020202020204" pitchFamily="34" charset="-128"/>
              <a:cs typeface="Calibri" panose="020F0502020204030204" pitchFamily="34" charset="0"/>
            </a:endParaRPr>
          </a:p>
          <a:p>
            <a:pPr marL="342900" indent="-342900" algn="r">
              <a:lnSpc>
                <a:spcPct val="150000"/>
              </a:lnSpc>
              <a:buFont typeface="+mj-lt"/>
              <a:buAutoNum type="arabicPeriod"/>
            </a:pPr>
            <a:r>
              <a:rPr lang="he-IL" sz="2000" b="1" dirty="0">
                <a:solidFill>
                  <a:srgbClr val="41645A"/>
                </a:solidFill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  <a:t>ערעור הנחת בסיס "המקום מקום בטוח"</a:t>
            </a:r>
            <a:br>
              <a:rPr lang="en-US" sz="2000" b="1" dirty="0">
                <a:solidFill>
                  <a:srgbClr val="41645A"/>
                </a:solidFill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</a:br>
            <a:r>
              <a:rPr lang="he-IL" sz="2000" b="1" dirty="0">
                <a:solidFill>
                  <a:srgbClr val="41645A"/>
                </a:solidFill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  <a:t>"לי זה לא יקרה"</a:t>
            </a:r>
          </a:p>
          <a:p>
            <a:pPr marL="342900" indent="-342900" algn="r">
              <a:lnSpc>
                <a:spcPct val="150000"/>
              </a:lnSpc>
              <a:buFont typeface="+mj-lt"/>
              <a:buAutoNum type="arabicPeriod"/>
            </a:pPr>
            <a:r>
              <a:rPr lang="he-IL" sz="2000" b="1" dirty="0">
                <a:solidFill>
                  <a:srgbClr val="41645A"/>
                </a:solidFill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  <a:t>תחושה של אובדן שליטה, חוסר אונים, </a:t>
            </a:r>
            <a:br>
              <a:rPr lang="en-US" sz="2000" b="1" dirty="0">
                <a:solidFill>
                  <a:srgbClr val="41645A"/>
                </a:solidFill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</a:br>
            <a:r>
              <a:rPr lang="he-IL" sz="2000" b="1" dirty="0">
                <a:solidFill>
                  <a:srgbClr val="41645A"/>
                </a:solidFill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  <a:t>ירידה בארגון וקושי בתפקוד</a:t>
            </a:r>
          </a:p>
          <a:p>
            <a:pPr marL="342900" indent="-342900" algn="r">
              <a:lnSpc>
                <a:spcPct val="150000"/>
              </a:lnSpc>
              <a:buFont typeface="+mj-lt"/>
              <a:buAutoNum type="arabicPeriod"/>
            </a:pPr>
            <a:endParaRPr lang="en-US" sz="2000" b="1" dirty="0">
              <a:solidFill>
                <a:srgbClr val="41645A"/>
              </a:solidFill>
              <a:latin typeface="Calibri" panose="020F0502020204030204" pitchFamily="34" charset="0"/>
              <a:ea typeface="Arial Unicode MS" panose="020B0604020202020204" pitchFamily="34" charset="-128"/>
              <a:cs typeface="Calibri" panose="020F0502020204030204" pitchFamily="34" charset="0"/>
            </a:endParaRPr>
          </a:p>
          <a:p>
            <a:pPr marL="342900" indent="-342900" algn="r">
              <a:lnSpc>
                <a:spcPct val="150000"/>
              </a:lnSpc>
              <a:buFont typeface="+mj-lt"/>
              <a:buAutoNum type="arabicPeriod"/>
            </a:pPr>
            <a:endParaRPr lang="he-IL" sz="2000" b="1" dirty="0">
              <a:solidFill>
                <a:srgbClr val="41645A"/>
              </a:solidFill>
              <a:latin typeface="Calibri" panose="020F0502020204030204" pitchFamily="34" charset="0"/>
              <a:ea typeface="Arial Unicode MS" panose="020B0604020202020204" pitchFamily="34" charset="-128"/>
              <a:cs typeface="Calibri" panose="020F0502020204030204" pitchFamily="34" charset="0"/>
            </a:endParaRPr>
          </a:p>
        </p:txBody>
      </p:sp>
      <p:sp>
        <p:nvSpPr>
          <p:cNvPr id="4" name="כותרת 1">
            <a:extLst>
              <a:ext uri="{FF2B5EF4-FFF2-40B4-BE49-F238E27FC236}">
                <a16:creationId xmlns:a16="http://schemas.microsoft.com/office/drawing/2014/main" id="{0FA7499E-A9ED-E693-1406-220DB4096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114" y="90319"/>
            <a:ext cx="5649332" cy="881784"/>
          </a:xfrm>
        </p:spPr>
        <p:txBody>
          <a:bodyPr>
            <a:noAutofit/>
          </a:bodyPr>
          <a:lstStyle/>
          <a:p>
            <a:br>
              <a:rPr lang="he-IL" sz="3200" b="1" u="sng" spc="205" dirty="0">
                <a:solidFill>
                  <a:srgbClr val="40645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</a:br>
            <a:br>
              <a:rPr lang="he-IL" sz="3200" b="1" u="sng" spc="205" dirty="0">
                <a:solidFill>
                  <a:srgbClr val="40645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</a:br>
            <a:r>
              <a:rPr lang="he-IL" sz="3200" b="1" dirty="0">
                <a:solidFill>
                  <a:srgbClr val="3E635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מה מאפיין אירוע טראומטי?</a:t>
            </a:r>
          </a:p>
        </p:txBody>
      </p:sp>
      <p:pic>
        <p:nvPicPr>
          <p:cNvPr id="5" name="תמונה 6">
            <a:extLst>
              <a:ext uri="{FF2B5EF4-FFF2-40B4-BE49-F238E27FC236}">
                <a16:creationId xmlns:a16="http://schemas.microsoft.com/office/drawing/2014/main" id="{8EB2C1D6-3068-8E6A-76CA-306AF66156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813" y="615865"/>
            <a:ext cx="5253564" cy="528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790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3BBA530-7B03-EC27-6119-9998483EC0B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72826"/>
            <a:ext cx="12204000" cy="50826"/>
          </a:xfrm>
          <a:prstGeom prst="rect">
            <a:avLst/>
          </a:prstGeom>
        </p:spPr>
      </p:pic>
      <p:pic>
        <p:nvPicPr>
          <p:cNvPr id="7" name="Picture 6" descr="A black background with green text&#10;&#10;Description automatically generated">
            <a:extLst>
              <a:ext uri="{FF2B5EF4-FFF2-40B4-BE49-F238E27FC236}">
                <a16:creationId xmlns:a16="http://schemas.microsoft.com/office/drawing/2014/main" id="{2A497F0F-C4F7-A8C5-3871-7D0900485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778" y="6371910"/>
            <a:ext cx="2096334" cy="236476"/>
          </a:xfrm>
          <a:prstGeom prst="rect">
            <a:avLst/>
          </a:prstGeom>
        </p:spPr>
      </p:pic>
      <p:pic>
        <p:nvPicPr>
          <p:cNvPr id="3" name="תמונה 5">
            <a:extLst>
              <a:ext uri="{FF2B5EF4-FFF2-40B4-BE49-F238E27FC236}">
                <a16:creationId xmlns:a16="http://schemas.microsoft.com/office/drawing/2014/main" id="{50AA2642-0C24-9ECB-E34A-FB2E191842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8" t="17283" r="3227"/>
          <a:stretch/>
        </p:blipFill>
        <p:spPr>
          <a:xfrm>
            <a:off x="580475" y="384846"/>
            <a:ext cx="11031050" cy="544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035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1EC76-A50A-35D7-58D8-4C73F4055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2F5C5B2-57F2-A71D-7F40-36C64E12FBE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72826"/>
            <a:ext cx="12204000" cy="50826"/>
          </a:xfrm>
          <a:prstGeom prst="rect">
            <a:avLst/>
          </a:prstGeom>
        </p:spPr>
      </p:pic>
      <p:pic>
        <p:nvPicPr>
          <p:cNvPr id="7" name="Picture 6" descr="A black background with green text&#10;&#10;Description automatically generated">
            <a:extLst>
              <a:ext uri="{FF2B5EF4-FFF2-40B4-BE49-F238E27FC236}">
                <a16:creationId xmlns:a16="http://schemas.microsoft.com/office/drawing/2014/main" id="{8D3AFF15-D7E4-912A-F828-8C9186004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778" y="6371910"/>
            <a:ext cx="2096334" cy="236476"/>
          </a:xfrm>
          <a:prstGeom prst="rect">
            <a:avLst/>
          </a:prstGeom>
        </p:spPr>
      </p:pic>
      <p:pic>
        <p:nvPicPr>
          <p:cNvPr id="2" name="מציין מיקום תוכן 5">
            <a:extLst>
              <a:ext uri="{FF2B5EF4-FFF2-40B4-BE49-F238E27FC236}">
                <a16:creationId xmlns:a16="http://schemas.microsoft.com/office/drawing/2014/main" id="{680F1719-3DB4-2711-5EC7-F839A5E2F2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06" t="14832" r="19956"/>
          <a:stretch/>
        </p:blipFill>
        <p:spPr>
          <a:xfrm>
            <a:off x="3207799" y="1148206"/>
            <a:ext cx="5913684" cy="47031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A53C5E-501F-E7FA-0C98-9B202CA00CC2}"/>
              </a:ext>
            </a:extLst>
          </p:cNvPr>
          <p:cNvSpPr txBox="1"/>
          <p:nvPr/>
        </p:nvSpPr>
        <p:spPr>
          <a:xfrm>
            <a:off x="0" y="335903"/>
            <a:ext cx="121920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3200" b="1" dirty="0">
                <a:solidFill>
                  <a:srgbClr val="3E6359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הקורטקס הפרה-פרונטלי ומיומנויות ניהוליות</a:t>
            </a:r>
            <a:endParaRPr lang="en-IL" sz="3200" b="1" dirty="0">
              <a:solidFill>
                <a:srgbClr val="3E6359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pic>
        <p:nvPicPr>
          <p:cNvPr id="4" name="תמונה 8">
            <a:extLst>
              <a:ext uri="{FF2B5EF4-FFF2-40B4-BE49-F238E27FC236}">
                <a16:creationId xmlns:a16="http://schemas.microsoft.com/office/drawing/2014/main" id="{23B2C76F-128A-FC06-7687-D933731213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840953" y="862991"/>
            <a:ext cx="7196648" cy="5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498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53A40-11E3-E220-1F58-4F7F94AAE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8100C11-AFE3-998A-6434-74304E0C6B8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72826"/>
            <a:ext cx="12204000" cy="50826"/>
          </a:xfrm>
          <a:prstGeom prst="rect">
            <a:avLst/>
          </a:prstGeom>
        </p:spPr>
      </p:pic>
      <p:pic>
        <p:nvPicPr>
          <p:cNvPr id="7" name="Picture 6" descr="A black background with green text&#10;&#10;Description automatically generated">
            <a:extLst>
              <a:ext uri="{FF2B5EF4-FFF2-40B4-BE49-F238E27FC236}">
                <a16:creationId xmlns:a16="http://schemas.microsoft.com/office/drawing/2014/main" id="{181C08BA-B031-7620-9239-9C3C8A755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778" y="6371910"/>
            <a:ext cx="2096334" cy="236476"/>
          </a:xfrm>
          <a:prstGeom prst="rect">
            <a:avLst/>
          </a:prstGeom>
        </p:spPr>
      </p:pic>
      <p:pic>
        <p:nvPicPr>
          <p:cNvPr id="4" name="תמונה 8">
            <a:extLst>
              <a:ext uri="{FF2B5EF4-FFF2-40B4-BE49-F238E27FC236}">
                <a16:creationId xmlns:a16="http://schemas.microsoft.com/office/drawing/2014/main" id="{D58D58D7-B1E2-4A26-A6DB-711B903325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840953" y="980684"/>
            <a:ext cx="7196648" cy="5082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76DA9EF-1164-AE8F-3DBB-8370B7B66598}"/>
              </a:ext>
            </a:extLst>
          </p:cNvPr>
          <p:cNvSpPr txBox="1">
            <a:spLocks/>
          </p:cNvSpPr>
          <p:nvPr/>
        </p:nvSpPr>
        <p:spPr>
          <a:xfrm>
            <a:off x="681510" y="425658"/>
            <a:ext cx="10948163" cy="536365"/>
          </a:xfrm>
          <a:prstGeom prst="rect">
            <a:avLst/>
          </a:prstGeom>
          <a:noFill/>
        </p:spPr>
        <p:txBody>
          <a:bodyPr vert="horz" wrap="square" lIns="91440" tIns="45720" rIns="91440" bIns="45720" rtlCol="1" anchor="b">
            <a:sp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3200" b="1" i="0" u="none" strike="noStrike" kern="1200" cap="none" spc="0" normalizeH="0" baseline="0" noProof="0" dirty="0">
                <a:ln>
                  <a:noFill/>
                </a:ln>
                <a:solidFill>
                  <a:srgbClr val="3E6359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השפעת התמודדות עם טראומה על תפקוד ותעסוקה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3E6359"/>
              </a:solidFill>
              <a:effectLst/>
              <a:uLnTx/>
              <a:uFillTx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9A58A0E-3644-2BD6-BF26-7951B9AB031E}"/>
              </a:ext>
            </a:extLst>
          </p:cNvPr>
          <p:cNvGrpSpPr/>
          <p:nvPr/>
        </p:nvGrpSpPr>
        <p:grpSpPr>
          <a:xfrm>
            <a:off x="303284" y="1902392"/>
            <a:ext cx="11697614" cy="2975050"/>
            <a:chOff x="184756" y="2625957"/>
            <a:chExt cx="11697614" cy="297505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5493FB3-0CC9-169B-45DF-E34FCA2E968B}"/>
                </a:ext>
              </a:extLst>
            </p:cNvPr>
            <p:cNvSpPr txBox="1"/>
            <p:nvPr/>
          </p:nvSpPr>
          <p:spPr>
            <a:xfrm>
              <a:off x="10667284" y="2635076"/>
              <a:ext cx="1215086" cy="831318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ct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312" b="1" i="0" u="none" strike="noStrike" kern="1200" cap="none" spc="0" normalizeH="0" baseline="0" noProof="0" dirty="0">
                  <a:ln>
                    <a:noFill/>
                  </a:ln>
                  <a:solidFill>
                    <a:srgbClr val="40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 1</a:t>
              </a:r>
            </a:p>
            <a:p>
              <a:pPr marL="0" marR="0" lvl="0" indent="0" algn="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149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2124C7F-8325-ACC5-EFEA-AA5C85AB5735}"/>
                </a:ext>
              </a:extLst>
            </p:cNvPr>
            <p:cNvSpPr txBox="1"/>
            <p:nvPr/>
          </p:nvSpPr>
          <p:spPr>
            <a:xfrm>
              <a:off x="5158764" y="3675540"/>
              <a:ext cx="1705862" cy="1323439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41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קשיים בוויסות רגשי, קושי בקבלת עזרה וקשרים</a:t>
              </a:r>
              <a:endPara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srgbClr val="41645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EB935E8-1FF6-56A4-6A65-F60550DAD6E8}"/>
                </a:ext>
              </a:extLst>
            </p:cNvPr>
            <p:cNvSpPr txBox="1"/>
            <p:nvPr/>
          </p:nvSpPr>
          <p:spPr>
            <a:xfrm>
              <a:off x="10022410" y="3663316"/>
              <a:ext cx="1607263" cy="155273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41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רגישות לרעשים, אורות, ריחות, מקומות</a:t>
              </a:r>
            </a:p>
            <a:p>
              <a:pPr marL="0" marR="0" lvl="0" indent="0" algn="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149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C35F796-8B03-4F65-DEAF-F1F0C46FC577}"/>
                </a:ext>
              </a:extLst>
            </p:cNvPr>
            <p:cNvSpPr txBox="1"/>
            <p:nvPr/>
          </p:nvSpPr>
          <p:spPr>
            <a:xfrm>
              <a:off x="2027746" y="3675540"/>
              <a:ext cx="1473914" cy="1631216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41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איבוד זהות תעסוקתית ושבר זהות, חוסר משמעות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3B26D0F-39B4-91A3-783A-E604A2870C26}"/>
                </a:ext>
              </a:extLst>
            </p:cNvPr>
            <p:cNvSpPr txBox="1"/>
            <p:nvPr/>
          </p:nvSpPr>
          <p:spPr>
            <a:xfrm>
              <a:off x="8675340" y="3675540"/>
              <a:ext cx="1479053" cy="1631216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41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נוקשות מחשבתית, דיכאון ומחשבות שליליות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49EB06E-8D01-9FA5-515C-2950A04A0C39}"/>
                </a:ext>
              </a:extLst>
            </p:cNvPr>
            <p:cNvSpPr txBox="1"/>
            <p:nvPr/>
          </p:nvSpPr>
          <p:spPr>
            <a:xfrm>
              <a:off x="6983254" y="3675540"/>
              <a:ext cx="1428001" cy="1631216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41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שבר באמון ובתחושת הביטחון, תחושת חוסר אונים</a:t>
              </a:r>
              <a:endPara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srgbClr val="41645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C5A9F48-DF7C-3FBF-A3EC-663DC19E75F8}"/>
                </a:ext>
              </a:extLst>
            </p:cNvPr>
            <p:cNvSpPr txBox="1"/>
            <p:nvPr/>
          </p:nvSpPr>
          <p:spPr>
            <a:xfrm>
              <a:off x="184756" y="3675540"/>
              <a:ext cx="1557047" cy="1631216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41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קשיי קשב וריכוז, התנעה ותעדוף משימות, קושי בבקרה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A3C5965-A9B8-AF3E-C46C-1C5C7696B4C3}"/>
                </a:ext>
              </a:extLst>
            </p:cNvPr>
            <p:cNvSpPr txBox="1"/>
            <p:nvPr/>
          </p:nvSpPr>
          <p:spPr>
            <a:xfrm>
              <a:off x="8807324" y="2635076"/>
              <a:ext cx="1215086" cy="831318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ct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312" b="1" i="0" u="none" strike="noStrike" kern="1200" cap="none" spc="0" normalizeH="0" baseline="0" noProof="0" dirty="0">
                  <a:ln>
                    <a:noFill/>
                  </a:ln>
                  <a:solidFill>
                    <a:srgbClr val="40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2</a:t>
              </a:r>
            </a:p>
            <a:p>
              <a:pPr marL="0" marR="0" lvl="0" indent="0" algn="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149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6168467-BF3A-7D88-19E7-B83319A8FA8F}"/>
                </a:ext>
              </a:extLst>
            </p:cNvPr>
            <p:cNvSpPr txBox="1"/>
            <p:nvPr/>
          </p:nvSpPr>
          <p:spPr>
            <a:xfrm>
              <a:off x="7316005" y="2625957"/>
              <a:ext cx="1215086" cy="831318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ct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312" b="1" i="0" u="none" strike="noStrike" kern="1200" cap="none" spc="0" normalizeH="0" baseline="0" noProof="0" dirty="0">
                  <a:ln>
                    <a:noFill/>
                  </a:ln>
                  <a:solidFill>
                    <a:srgbClr val="40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3</a:t>
              </a:r>
            </a:p>
            <a:p>
              <a:pPr marL="0" marR="0" lvl="0" indent="0" algn="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149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042CDFF-796D-ECBE-0781-E246FF0AD51A}"/>
                </a:ext>
              </a:extLst>
            </p:cNvPr>
            <p:cNvSpPr txBox="1"/>
            <p:nvPr/>
          </p:nvSpPr>
          <p:spPr>
            <a:xfrm>
              <a:off x="5778482" y="2635076"/>
              <a:ext cx="1215086" cy="831318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ct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312" b="1" i="0" u="none" strike="noStrike" kern="1200" cap="none" spc="0" normalizeH="0" baseline="0" noProof="0" dirty="0">
                  <a:ln>
                    <a:noFill/>
                  </a:ln>
                  <a:solidFill>
                    <a:srgbClr val="40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4</a:t>
              </a:r>
            </a:p>
            <a:p>
              <a:pPr marL="0" marR="0" lvl="0" indent="0" algn="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149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8186D8C-7BC5-D01D-F125-DD42B927C9FE}"/>
                </a:ext>
              </a:extLst>
            </p:cNvPr>
            <p:cNvSpPr txBox="1"/>
            <p:nvPr/>
          </p:nvSpPr>
          <p:spPr>
            <a:xfrm>
              <a:off x="4078092" y="2625957"/>
              <a:ext cx="1215086" cy="831318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ct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312" b="1" i="0" u="none" strike="noStrike" kern="1200" cap="none" spc="0" normalizeH="0" baseline="0" noProof="0" dirty="0">
                  <a:ln>
                    <a:noFill/>
                  </a:ln>
                  <a:solidFill>
                    <a:srgbClr val="40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5</a:t>
              </a:r>
            </a:p>
            <a:p>
              <a:pPr marL="0" marR="0" lvl="0" indent="0" algn="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149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4182DDC-4C5B-9EE5-9175-7633681535CE}"/>
                </a:ext>
              </a:extLst>
            </p:cNvPr>
            <p:cNvSpPr txBox="1"/>
            <p:nvPr/>
          </p:nvSpPr>
          <p:spPr>
            <a:xfrm>
              <a:off x="2264336" y="2635076"/>
              <a:ext cx="1215086" cy="60202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ct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312" b="1" i="0" u="none" strike="noStrike" kern="1200" cap="none" spc="0" normalizeH="0" baseline="0" noProof="0" dirty="0">
                  <a:ln>
                    <a:noFill/>
                  </a:ln>
                  <a:solidFill>
                    <a:srgbClr val="40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1691D31-C110-46A2-DF9F-BF5D6BA03CA4}"/>
                </a:ext>
              </a:extLst>
            </p:cNvPr>
            <p:cNvSpPr txBox="1"/>
            <p:nvPr/>
          </p:nvSpPr>
          <p:spPr>
            <a:xfrm>
              <a:off x="552080" y="2635076"/>
              <a:ext cx="1215086" cy="60202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ct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312" b="1" i="0" u="none" strike="noStrike" kern="1200" cap="none" spc="0" normalizeH="0" baseline="0" noProof="0" dirty="0">
                  <a:ln>
                    <a:noFill/>
                  </a:ln>
                  <a:solidFill>
                    <a:srgbClr val="40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422F0FB-61BC-BC37-4909-CF6863928676}"/>
                </a:ext>
              </a:extLst>
            </p:cNvPr>
            <p:cNvSpPr txBox="1"/>
            <p:nvPr/>
          </p:nvSpPr>
          <p:spPr>
            <a:xfrm>
              <a:off x="3503026" y="3662015"/>
              <a:ext cx="1557047" cy="193899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41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ערך עצמי נמוך </a:t>
              </a:r>
              <a:r>
                <a:rPr kumimoji="0" lang="he-IL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41645A"/>
                  </a:solidFill>
                  <a:effectLst/>
                  <a:uLnTx/>
                  <a:uFillTx/>
                  <a:latin typeface="Calibri" panose="020F0502020204030204" pitchFamily="34" charset="0"/>
                  <a:ea typeface="Arial Unicode MS" panose="020B0604020202020204" pitchFamily="34" charset="-128"/>
                  <a:cs typeface="Calibri" panose="020F0502020204030204" pitchFamily="34" charset="0"/>
                </a:rPr>
                <a:t>ו</a:t>
              </a:r>
              <a:r>
                <a:rPr kumimoji="0" lang="he-IL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41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חוסר מסוגלות, קושי לשמר מוטיבציה והתמדה</a:t>
              </a:r>
              <a:endPara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srgbClr val="41645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4785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1E430-B3F0-BC45-D349-A56F446A4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2F3380D-3603-FFC1-43E2-D197BB72423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72826"/>
            <a:ext cx="12204000" cy="50826"/>
          </a:xfrm>
          <a:prstGeom prst="rect">
            <a:avLst/>
          </a:prstGeom>
        </p:spPr>
      </p:pic>
      <p:pic>
        <p:nvPicPr>
          <p:cNvPr id="7" name="Picture 6" descr="A black background with green text&#10;&#10;Description automatically generated">
            <a:extLst>
              <a:ext uri="{FF2B5EF4-FFF2-40B4-BE49-F238E27FC236}">
                <a16:creationId xmlns:a16="http://schemas.microsoft.com/office/drawing/2014/main" id="{EDF87794-ED2D-C813-7088-210989FFC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778" y="6371910"/>
            <a:ext cx="2096334" cy="236476"/>
          </a:xfrm>
          <a:prstGeom prst="rect">
            <a:avLst/>
          </a:prstGeom>
        </p:spPr>
      </p:pic>
      <p:pic>
        <p:nvPicPr>
          <p:cNvPr id="4" name="תמונה 8">
            <a:extLst>
              <a:ext uri="{FF2B5EF4-FFF2-40B4-BE49-F238E27FC236}">
                <a16:creationId xmlns:a16="http://schemas.microsoft.com/office/drawing/2014/main" id="{ABCC9A15-7A54-093D-C80E-F2D78FB2D8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613" y="931261"/>
            <a:ext cx="6473656" cy="457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118A30-8FF2-7BA3-F010-D391C5770FCD}"/>
              </a:ext>
            </a:extLst>
          </p:cNvPr>
          <p:cNvSpPr txBox="1">
            <a:spLocks/>
          </p:cNvSpPr>
          <p:nvPr/>
        </p:nvSpPr>
        <p:spPr>
          <a:xfrm>
            <a:off x="621918" y="396297"/>
            <a:ext cx="10948163" cy="536365"/>
          </a:xfrm>
          <a:prstGeom prst="rect">
            <a:avLst/>
          </a:prstGeom>
          <a:noFill/>
        </p:spPr>
        <p:txBody>
          <a:bodyPr vert="horz" wrap="square" lIns="91440" tIns="45720" rIns="91440" bIns="45720" rtlCol="1" anchor="b">
            <a:sp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3200" b="1" i="0" u="none" strike="noStrike" kern="1200" cap="none" spc="0" normalizeH="0" baseline="0" noProof="0" dirty="0">
                <a:ln>
                  <a:noFill/>
                </a:ln>
                <a:solidFill>
                  <a:srgbClr val="3E6359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איך זה נראה מהצד של המעסיק?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3E6359"/>
              </a:solidFill>
              <a:effectLst/>
              <a:uLnTx/>
              <a:uFillTx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39263A1-DE32-DEB8-E609-05099B1EC1B5}"/>
              </a:ext>
            </a:extLst>
          </p:cNvPr>
          <p:cNvGrpSpPr/>
          <p:nvPr/>
        </p:nvGrpSpPr>
        <p:grpSpPr>
          <a:xfrm>
            <a:off x="351893" y="1876727"/>
            <a:ext cx="11488212" cy="3296352"/>
            <a:chOff x="394158" y="2625957"/>
            <a:chExt cx="11488212" cy="329635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FE4BF70-66AF-7707-2D81-522A27C3822E}"/>
                </a:ext>
              </a:extLst>
            </p:cNvPr>
            <p:cNvSpPr txBox="1"/>
            <p:nvPr/>
          </p:nvSpPr>
          <p:spPr>
            <a:xfrm>
              <a:off x="10667284" y="2635076"/>
              <a:ext cx="1215086" cy="831318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ct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312" b="1" i="0" u="none" strike="noStrike" kern="1200" cap="none" spc="0" normalizeH="0" baseline="0" noProof="0" dirty="0">
                  <a:ln>
                    <a:noFill/>
                  </a:ln>
                  <a:solidFill>
                    <a:srgbClr val="40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 1</a:t>
              </a:r>
            </a:p>
            <a:p>
              <a:pPr marL="0" marR="0" lvl="0" indent="0" algn="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149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38839E5-30F8-AB80-DA2E-5371D3451567}"/>
                </a:ext>
              </a:extLst>
            </p:cNvPr>
            <p:cNvSpPr txBox="1"/>
            <p:nvPr/>
          </p:nvSpPr>
          <p:spPr>
            <a:xfrm>
              <a:off x="5280619" y="3675540"/>
              <a:ext cx="1640684" cy="2246769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41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הימנעות מקשר, מעבר מהיר בין התגוננות לתוקפנות, קושי בקבלת סמכות </a:t>
              </a:r>
              <a:endPara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srgbClr val="41645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97BC8D5-E142-98CE-9AC8-3B76EF186BDD}"/>
                </a:ext>
              </a:extLst>
            </p:cNvPr>
            <p:cNvSpPr txBox="1"/>
            <p:nvPr/>
          </p:nvSpPr>
          <p:spPr>
            <a:xfrm>
              <a:off x="10128319" y="3663316"/>
              <a:ext cx="1584963" cy="193899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41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קשיי הסתגלות במרחב הציבורי, חוסר שקט, קופצנות, הימנעויות</a:t>
              </a:r>
              <a:endParaRPr kumimoji="0" lang="he-IL" sz="149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08ED2AC-8E30-3E41-8B5F-72FDAAFC992C}"/>
                </a:ext>
              </a:extLst>
            </p:cNvPr>
            <p:cNvSpPr txBox="1"/>
            <p:nvPr/>
          </p:nvSpPr>
          <p:spPr>
            <a:xfrm>
              <a:off x="1991386" y="3675540"/>
              <a:ext cx="1482919" cy="1631216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41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שינויים בזהות התעסוקתית בין אובדן להזדמנות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E4EFA30-E43B-E95D-B716-FFDE865767E8}"/>
                </a:ext>
              </a:extLst>
            </p:cNvPr>
            <p:cNvSpPr txBox="1"/>
            <p:nvPr/>
          </p:nvSpPr>
          <p:spPr>
            <a:xfrm>
              <a:off x="8635954" y="3675540"/>
              <a:ext cx="1432573" cy="1631216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41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חשיבה שלילית, נוקשה ודיכוטומית, דיכאון וחרדה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B6DE76F-9000-36E8-4A1E-A8A34F2B7EBE}"/>
                </a:ext>
              </a:extLst>
            </p:cNvPr>
            <p:cNvSpPr txBox="1"/>
            <p:nvPr/>
          </p:nvSpPr>
          <p:spPr>
            <a:xfrm>
              <a:off x="7169427" y="3675540"/>
              <a:ext cx="1361664" cy="1631216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41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חשדנות וקושי בנתינת אמון וקבלת עזרה או ביקורת</a:t>
              </a:r>
              <a:endPara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srgbClr val="41645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0BB713B-BDC0-91C2-D11D-76E63AC9E725}"/>
                </a:ext>
              </a:extLst>
            </p:cNvPr>
            <p:cNvSpPr txBox="1"/>
            <p:nvPr/>
          </p:nvSpPr>
          <p:spPr>
            <a:xfrm>
              <a:off x="394158" y="3663316"/>
              <a:ext cx="1265066" cy="2246769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41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הסחות דעת מרובות, קשיי ריכוז ותעדוף משימות, דחיינות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0F97ACE-7BEF-6C0A-4FAF-1583C11AAB6F}"/>
                </a:ext>
              </a:extLst>
            </p:cNvPr>
            <p:cNvSpPr txBox="1"/>
            <p:nvPr/>
          </p:nvSpPr>
          <p:spPr>
            <a:xfrm>
              <a:off x="8807324" y="2635076"/>
              <a:ext cx="1215086" cy="831318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ct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312" b="1" i="0" u="none" strike="noStrike" kern="1200" cap="none" spc="0" normalizeH="0" baseline="0" noProof="0" dirty="0">
                  <a:ln>
                    <a:noFill/>
                  </a:ln>
                  <a:solidFill>
                    <a:srgbClr val="40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2</a:t>
              </a:r>
            </a:p>
            <a:p>
              <a:pPr marL="0" marR="0" lvl="0" indent="0" algn="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149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5D6E9B8-7FC4-AAE9-7DB4-6A389755504B}"/>
                </a:ext>
              </a:extLst>
            </p:cNvPr>
            <p:cNvSpPr txBox="1"/>
            <p:nvPr/>
          </p:nvSpPr>
          <p:spPr>
            <a:xfrm>
              <a:off x="7316005" y="2625957"/>
              <a:ext cx="1215086" cy="831318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ct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312" b="1" i="0" u="none" strike="noStrike" kern="1200" cap="none" spc="0" normalizeH="0" baseline="0" noProof="0" dirty="0">
                  <a:ln>
                    <a:noFill/>
                  </a:ln>
                  <a:solidFill>
                    <a:srgbClr val="40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3</a:t>
              </a:r>
            </a:p>
            <a:p>
              <a:pPr marL="0" marR="0" lvl="0" indent="0" algn="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149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7FAFA92-5B89-C47D-59B7-E57E55CA75F0}"/>
                </a:ext>
              </a:extLst>
            </p:cNvPr>
            <p:cNvSpPr txBox="1"/>
            <p:nvPr/>
          </p:nvSpPr>
          <p:spPr>
            <a:xfrm>
              <a:off x="5778482" y="2635076"/>
              <a:ext cx="1215086" cy="831318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ct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312" b="1" i="0" u="none" strike="noStrike" kern="1200" cap="none" spc="0" normalizeH="0" baseline="0" noProof="0" dirty="0">
                  <a:ln>
                    <a:noFill/>
                  </a:ln>
                  <a:solidFill>
                    <a:srgbClr val="40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4</a:t>
              </a:r>
            </a:p>
            <a:p>
              <a:pPr marL="0" marR="0" lvl="0" indent="0" algn="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149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82B3620-F9FA-70A1-A355-473800C2D1B9}"/>
                </a:ext>
              </a:extLst>
            </p:cNvPr>
            <p:cNvSpPr txBox="1"/>
            <p:nvPr/>
          </p:nvSpPr>
          <p:spPr>
            <a:xfrm>
              <a:off x="4078092" y="2625957"/>
              <a:ext cx="1215086" cy="831318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ct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312" b="1" i="0" u="none" strike="noStrike" kern="1200" cap="none" spc="0" normalizeH="0" baseline="0" noProof="0" dirty="0">
                  <a:ln>
                    <a:noFill/>
                  </a:ln>
                  <a:solidFill>
                    <a:srgbClr val="40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5</a:t>
              </a:r>
            </a:p>
            <a:p>
              <a:pPr marL="0" marR="0" lvl="0" indent="0" algn="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149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7A02D14-1044-8F47-FB79-8B885711A746}"/>
                </a:ext>
              </a:extLst>
            </p:cNvPr>
            <p:cNvSpPr txBox="1"/>
            <p:nvPr/>
          </p:nvSpPr>
          <p:spPr>
            <a:xfrm>
              <a:off x="2264336" y="2635076"/>
              <a:ext cx="1215086" cy="60202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ct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312" b="1" i="0" u="none" strike="noStrike" kern="1200" cap="none" spc="0" normalizeH="0" baseline="0" noProof="0" dirty="0">
                  <a:ln>
                    <a:noFill/>
                  </a:ln>
                  <a:solidFill>
                    <a:srgbClr val="40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EB0CB6D-1B45-033E-B6E3-7CAF194952D3}"/>
                </a:ext>
              </a:extLst>
            </p:cNvPr>
            <p:cNvSpPr txBox="1"/>
            <p:nvPr/>
          </p:nvSpPr>
          <p:spPr>
            <a:xfrm>
              <a:off x="552080" y="2635076"/>
              <a:ext cx="1215086" cy="60202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ct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312" b="1" i="0" u="none" strike="noStrike" kern="1200" cap="none" spc="0" normalizeH="0" baseline="0" noProof="0" dirty="0">
                  <a:ln>
                    <a:noFill/>
                  </a:ln>
                  <a:solidFill>
                    <a:srgbClr val="40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E6DF39B-B51F-EBED-E55D-3859EB8D4C38}"/>
                </a:ext>
              </a:extLst>
            </p:cNvPr>
            <p:cNvSpPr txBox="1"/>
            <p:nvPr/>
          </p:nvSpPr>
          <p:spPr>
            <a:xfrm>
              <a:off x="3806467" y="3663316"/>
              <a:ext cx="1368243" cy="1323439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r" defTabSz="378562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41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קשיי הנעה התמדה</a:t>
              </a:r>
              <a:b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41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kumimoji="0" lang="he-IL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41645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וגיוס כוחות לעשייה</a:t>
              </a:r>
              <a:endPara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srgbClr val="41645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7598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52BF4-7707-179E-A4F4-DF38C545A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5EF5E6B-777E-0ED7-94DB-9FB5355427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72826"/>
            <a:ext cx="12204000" cy="50826"/>
          </a:xfrm>
          <a:prstGeom prst="rect">
            <a:avLst/>
          </a:prstGeom>
        </p:spPr>
      </p:pic>
      <p:pic>
        <p:nvPicPr>
          <p:cNvPr id="7" name="Picture 6" descr="A black background with green text&#10;&#10;Description automatically generated">
            <a:extLst>
              <a:ext uri="{FF2B5EF4-FFF2-40B4-BE49-F238E27FC236}">
                <a16:creationId xmlns:a16="http://schemas.microsoft.com/office/drawing/2014/main" id="{C60ACCA3-035E-1367-73DB-42F5F17CB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778" y="6371910"/>
            <a:ext cx="2096334" cy="236476"/>
          </a:xfrm>
          <a:prstGeom prst="rect">
            <a:avLst/>
          </a:prstGeom>
        </p:spPr>
      </p:pic>
      <p:pic>
        <p:nvPicPr>
          <p:cNvPr id="9" name="תמונה 7">
            <a:extLst>
              <a:ext uri="{FF2B5EF4-FFF2-40B4-BE49-F238E27FC236}">
                <a16:creationId xmlns:a16="http://schemas.microsoft.com/office/drawing/2014/main" id="{190A7890-5F4D-0205-D5DE-12DCBC0D6CA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0" r="2217"/>
          <a:stretch>
            <a:fillRect/>
          </a:stretch>
        </p:blipFill>
        <p:spPr>
          <a:xfrm>
            <a:off x="6096000" y="579422"/>
            <a:ext cx="5931787" cy="5245146"/>
          </a:xfrm>
          <a:prstGeom prst="rect">
            <a:avLst/>
          </a:prstGeom>
        </p:spPr>
      </p:pic>
      <p:sp>
        <p:nvSpPr>
          <p:cNvPr id="10" name="כותרת 1">
            <a:extLst>
              <a:ext uri="{FF2B5EF4-FFF2-40B4-BE49-F238E27FC236}">
                <a16:creationId xmlns:a16="http://schemas.microsoft.com/office/drawing/2014/main" id="{FCE547D6-3387-085A-EC30-15B00EF94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48" y="358342"/>
            <a:ext cx="4646144" cy="881784"/>
          </a:xfrm>
        </p:spPr>
        <p:txBody>
          <a:bodyPr>
            <a:normAutofit/>
          </a:bodyPr>
          <a:lstStyle/>
          <a:p>
            <a:pPr algn="r"/>
            <a:r>
              <a:rPr lang="he-IL" sz="3200" b="1" dirty="0">
                <a:solidFill>
                  <a:srgbClr val="3E635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למסגר את הטראומה</a:t>
            </a:r>
          </a:p>
        </p:txBody>
      </p:sp>
      <p:sp>
        <p:nvSpPr>
          <p:cNvPr id="11" name="מציין מיקום תוכן 2">
            <a:extLst>
              <a:ext uri="{FF2B5EF4-FFF2-40B4-BE49-F238E27FC236}">
                <a16:creationId xmlns:a16="http://schemas.microsoft.com/office/drawing/2014/main" id="{D91EDEC6-C254-02FC-FECB-BFAF25E9E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8587" y="1161478"/>
            <a:ext cx="6032626" cy="4989997"/>
          </a:xfrm>
        </p:spPr>
        <p:txBody>
          <a:bodyPr>
            <a:noAutofit/>
          </a:bodyPr>
          <a:lstStyle/>
          <a:p>
            <a:pPr marL="342900" indent="-342900" algn="r">
              <a:lnSpc>
                <a:spcPct val="150000"/>
              </a:lnSpc>
              <a:buFont typeface="+mj-lt"/>
              <a:buAutoNum type="arabicPeriod"/>
            </a:pPr>
            <a:r>
              <a:rPr lang="he-IL" sz="2000" b="1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התמודדות עם סימפטומים,</a:t>
            </a:r>
            <a:r>
              <a:rPr lang="en-US" sz="2000" b="1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 </a:t>
            </a:r>
            <a:r>
              <a:rPr lang="he-IL" sz="2000" b="1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ויסות וניטור עצמי</a:t>
            </a:r>
            <a:endParaRPr lang="en-US" sz="2000" b="1" dirty="0">
              <a:solidFill>
                <a:srgbClr val="41645A"/>
              </a:solidFill>
              <a:ea typeface="Arial Unicode MS" panose="020B0604020202020204" pitchFamily="34" charset="-128"/>
              <a:cs typeface="Calibri" panose="020F0502020204030204" pitchFamily="34" charset="0"/>
            </a:endParaRPr>
          </a:p>
          <a:p>
            <a:pPr marL="342900" indent="-342900" algn="r">
              <a:lnSpc>
                <a:spcPct val="150000"/>
              </a:lnSpc>
              <a:buFont typeface="+mj-lt"/>
              <a:buAutoNum type="arabicPeriod"/>
            </a:pPr>
            <a:r>
              <a:rPr lang="he-IL" sz="2000" b="1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השלכות הטראומה על החשיבה והתפיסה</a:t>
            </a:r>
            <a:endParaRPr lang="en-US" sz="2000" b="1" dirty="0">
              <a:solidFill>
                <a:srgbClr val="41645A"/>
              </a:solidFill>
              <a:ea typeface="Arial Unicode MS" panose="020B0604020202020204" pitchFamily="34" charset="-128"/>
              <a:cs typeface="Calibri" panose="020F0502020204030204" pitchFamily="34" charset="0"/>
            </a:endParaRPr>
          </a:p>
          <a:p>
            <a:pPr marL="342900" indent="-342900" algn="r">
              <a:lnSpc>
                <a:spcPct val="150000"/>
              </a:lnSpc>
              <a:buFont typeface="+mj-lt"/>
              <a:buAutoNum type="arabicPeriod"/>
            </a:pPr>
            <a:r>
              <a:rPr lang="he-IL" sz="2000" b="1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ביטחון</a:t>
            </a:r>
          </a:p>
          <a:p>
            <a:pPr marL="342900" indent="-342900" algn="r">
              <a:lnSpc>
                <a:spcPct val="150000"/>
              </a:lnSpc>
              <a:buFont typeface="+mj-lt"/>
              <a:buAutoNum type="arabicPeriod"/>
            </a:pPr>
            <a:r>
              <a:rPr lang="he-IL" sz="2000" b="1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תקשורת אמון ומיומנויות בינאישיות </a:t>
            </a:r>
            <a:br>
              <a:rPr lang="en-US" sz="2000" b="1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</a:br>
            <a:r>
              <a:rPr lang="he-IL" sz="2000" b="1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והתמודדות עם סמכות</a:t>
            </a:r>
            <a:endParaRPr lang="en-US" sz="2000" b="1" dirty="0">
              <a:solidFill>
                <a:srgbClr val="41645A"/>
              </a:solidFill>
              <a:ea typeface="Arial Unicode MS" panose="020B0604020202020204" pitchFamily="34" charset="-128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he-IL" sz="2000" b="1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ערך עצמי</a:t>
            </a:r>
            <a:r>
              <a:rPr lang="en-US" sz="2000" b="1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 </a:t>
            </a:r>
            <a:r>
              <a:rPr lang="he-IL" sz="2000" b="1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, מסוגלות עצמית ועידוד</a:t>
            </a:r>
            <a:endParaRPr lang="en-US" sz="2000" b="1" dirty="0">
              <a:solidFill>
                <a:srgbClr val="41645A"/>
              </a:solidFill>
              <a:ea typeface="Arial Unicode MS" panose="020B0604020202020204" pitchFamily="34" charset="-128"/>
              <a:cs typeface="Calibri" panose="020F0502020204030204" pitchFamily="34" charset="0"/>
            </a:endParaRPr>
          </a:p>
          <a:p>
            <a:pPr marL="342900" indent="-342900" algn="r">
              <a:lnSpc>
                <a:spcPct val="150000"/>
              </a:lnSpc>
              <a:buFont typeface="+mj-lt"/>
              <a:buAutoNum type="arabicPeriod"/>
            </a:pPr>
            <a:r>
              <a:rPr lang="he-IL" sz="2000" b="1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מיומנויות ספציפיות לעולם התעסוקה</a:t>
            </a:r>
            <a:endParaRPr lang="en-US" sz="2000" b="1" dirty="0">
              <a:solidFill>
                <a:srgbClr val="41645A"/>
              </a:solidFill>
              <a:ea typeface="Arial Unicode MS" panose="020B0604020202020204" pitchFamily="34" charset="-128"/>
              <a:cs typeface="Calibri" panose="020F0502020204030204" pitchFamily="34" charset="0"/>
            </a:endParaRPr>
          </a:p>
          <a:p>
            <a:pPr marL="342900" indent="-342900" algn="r">
              <a:lnSpc>
                <a:spcPct val="150000"/>
              </a:lnSpc>
              <a:buFont typeface="+mj-lt"/>
              <a:buAutoNum type="arabicPeriod"/>
            </a:pPr>
            <a:r>
              <a:rPr lang="he-IL" sz="2000" b="1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תפקודים ניהוליים  </a:t>
            </a:r>
          </a:p>
          <a:p>
            <a:pPr marL="0" indent="0" algn="r">
              <a:lnSpc>
                <a:spcPct val="150000"/>
              </a:lnSpc>
              <a:buNone/>
            </a:pPr>
            <a:endParaRPr lang="en-US" sz="2200" b="1" dirty="0">
              <a:solidFill>
                <a:srgbClr val="41645A"/>
              </a:solidFill>
              <a:ea typeface="Arial Unicode MS" panose="020B0604020202020204" pitchFamily="34" charset="-128"/>
              <a:cs typeface="Calibri" panose="020F0502020204030204" pitchFamily="34" charset="0"/>
            </a:endParaRPr>
          </a:p>
          <a:p>
            <a:pPr marL="342900" indent="-342900" algn="r">
              <a:lnSpc>
                <a:spcPct val="150000"/>
              </a:lnSpc>
              <a:buFont typeface="+mj-lt"/>
              <a:buAutoNum type="arabicPeriod"/>
            </a:pPr>
            <a:endParaRPr lang="he-IL" sz="2200" b="1" dirty="0">
              <a:solidFill>
                <a:srgbClr val="41645A"/>
              </a:solidFill>
              <a:ea typeface="Arial Unicode MS" panose="020B0604020202020204" pitchFamily="34" charset="-128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333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6ADE6-CC24-1656-172C-254B7BA4E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217B62-DA08-D3CF-E39C-4D03B7DECFB9}"/>
              </a:ext>
            </a:extLst>
          </p:cNvPr>
          <p:cNvSpPr txBox="1"/>
          <p:nvPr/>
        </p:nvSpPr>
        <p:spPr>
          <a:xfrm>
            <a:off x="4949505" y="500782"/>
            <a:ext cx="6763070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r" rtl="1">
              <a:defRPr/>
            </a:pPr>
            <a:r>
              <a:rPr lang="he-IL" sz="3200" b="1" dirty="0">
                <a:solidFill>
                  <a:srgbClr val="3E635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נט"ל - מעטפת מענים מקצועיים לחוסן ארגוני</a:t>
            </a:r>
            <a:endParaRPr lang="en-IL" sz="3200" b="1" dirty="0">
              <a:solidFill>
                <a:srgbClr val="3E635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367B25FD-1987-248D-5D42-60514DBAAF0C}"/>
              </a:ext>
            </a:extLst>
          </p:cNvPr>
          <p:cNvSpPr/>
          <p:nvPr/>
        </p:nvSpPr>
        <p:spPr>
          <a:xfrm>
            <a:off x="9661343" y="1767076"/>
            <a:ext cx="2160000" cy="1192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144000" rIns="251999" rtlCol="0" anchor="t" anchorCtr="0"/>
          <a:lstStyle/>
          <a:p>
            <a:pPr algn="r" rtl="1">
              <a:lnSpc>
                <a:spcPct val="150000"/>
              </a:lnSpc>
            </a:pPr>
            <a:r>
              <a:rPr lang="he-IL" altLang="he-IL" sz="1400" b="1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הכשרות למנהלים ומש״א </a:t>
            </a:r>
            <a:r>
              <a:rPr lang="he-IL" altLang="he-IL" sz="1400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סביבת עבודה מיודעת טראומה</a:t>
            </a:r>
          </a:p>
          <a:p>
            <a:pPr marL="0" marR="0" lvl="0" indent="0" algn="r" defTabSz="4572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400" b="0" i="0" u="none" strike="noStrike" kern="1200" cap="none" spc="31" normalizeH="0" baseline="0" noProof="0" dirty="0">
              <a:ln>
                <a:noFill/>
              </a:ln>
              <a:solidFill>
                <a:srgbClr val="40645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3" name="Rectangle 16">
            <a:extLst>
              <a:ext uri="{FF2B5EF4-FFF2-40B4-BE49-F238E27FC236}">
                <a16:creationId xmlns:a16="http://schemas.microsoft.com/office/drawing/2014/main" id="{ECAA4DA1-62D6-8F80-ECC3-E6183FFD0E9C}"/>
              </a:ext>
            </a:extLst>
          </p:cNvPr>
          <p:cNvSpPr/>
          <p:nvPr/>
        </p:nvSpPr>
        <p:spPr>
          <a:xfrm>
            <a:off x="7333900" y="1767076"/>
            <a:ext cx="2160000" cy="1192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144000" rIns="251999" rtlCol="0" anchor="t" anchorCtr="0"/>
          <a:lstStyle/>
          <a:p>
            <a:pPr algn="r" rtl="1">
              <a:lnSpc>
                <a:spcPct val="150000"/>
              </a:lnSpc>
            </a:pPr>
            <a:r>
              <a:rPr lang="he-IL" altLang="he-IL" sz="1400" b="1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ליווי פרטני למנהל ומש״א </a:t>
            </a:r>
            <a:r>
              <a:rPr lang="he-IL" altLang="he-IL" sz="1400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ע"י</a:t>
            </a:r>
            <a:r>
              <a:rPr lang="he-IL" altLang="he-IL" sz="1400" b="1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 </a:t>
            </a:r>
            <a:r>
              <a:rPr lang="he-IL" altLang="he-IL" sz="1400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עו"ס מומחית לתעסוקה וטראומה</a:t>
            </a:r>
          </a:p>
          <a:p>
            <a:pPr marL="0" marR="0" lvl="0" indent="0" algn="r" defTabSz="4572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400" b="1" i="0" u="none" strike="noStrike" kern="1200" cap="none" spc="31" normalizeH="0" baseline="0" noProof="0" dirty="0">
              <a:ln>
                <a:noFill/>
              </a:ln>
              <a:solidFill>
                <a:srgbClr val="40645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C8507AD1-5BEF-45BB-3CA7-161C9B3F50E3}"/>
              </a:ext>
            </a:extLst>
          </p:cNvPr>
          <p:cNvSpPr/>
          <p:nvPr/>
        </p:nvSpPr>
        <p:spPr>
          <a:xfrm>
            <a:off x="5041568" y="1767076"/>
            <a:ext cx="2160000" cy="1192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144000" rIns="251999" rtlCol="0" anchor="t" anchorCtr="0"/>
          <a:lstStyle/>
          <a:p>
            <a:pPr algn="r" rtl="1">
              <a:lnSpc>
                <a:spcPct val="150000"/>
              </a:lnSpc>
            </a:pPr>
            <a:r>
              <a:rPr lang="he-IL" altLang="he-IL" sz="1400" b="1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ליווי מקצועי למנהלים </a:t>
            </a:r>
            <a:r>
              <a:rPr lang="he-IL" altLang="he-IL" sz="1400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שיח רגיש, תפקוד ושימור עובדים</a:t>
            </a:r>
          </a:p>
          <a:p>
            <a:pPr marL="0" marR="0" lvl="0" indent="0" algn="r" defTabSz="4572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400" b="1" i="0" u="none" strike="noStrike" kern="1200" cap="none" spc="31" normalizeH="0" baseline="0" noProof="0" dirty="0">
              <a:ln>
                <a:noFill/>
              </a:ln>
              <a:solidFill>
                <a:srgbClr val="40645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5" name="Rectangle 16">
            <a:extLst>
              <a:ext uri="{FF2B5EF4-FFF2-40B4-BE49-F238E27FC236}">
                <a16:creationId xmlns:a16="http://schemas.microsoft.com/office/drawing/2014/main" id="{03E29F8A-C7DE-13DB-A8CD-07F23438FC60}"/>
              </a:ext>
            </a:extLst>
          </p:cNvPr>
          <p:cNvSpPr/>
          <p:nvPr/>
        </p:nvSpPr>
        <p:spPr>
          <a:xfrm>
            <a:off x="2703616" y="1767076"/>
            <a:ext cx="2160000" cy="1192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144000" rIns="251999" rtlCol="0" anchor="t" anchorCtr="0"/>
          <a:lstStyle/>
          <a:p>
            <a:pPr algn="r" rtl="1">
              <a:lnSpc>
                <a:spcPct val="150000"/>
              </a:lnSpc>
            </a:pPr>
            <a:r>
              <a:rPr lang="he-IL" altLang="he-IL" sz="1400" b="1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סדנאות חוסן לארגון </a:t>
            </a:r>
            <a:r>
              <a:rPr lang="he-IL" altLang="he-IL" sz="1400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התמודדות עם עומס, שחיקה ודחק מתמשך</a:t>
            </a:r>
          </a:p>
          <a:p>
            <a:pPr marL="0" marR="0" lvl="0" indent="0" algn="r" defTabSz="4572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400" b="1" i="0" u="none" strike="noStrike" kern="1200" cap="none" spc="31" normalizeH="0" baseline="0" noProof="0" dirty="0">
              <a:ln>
                <a:noFill/>
              </a:ln>
              <a:solidFill>
                <a:srgbClr val="40645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D8F9AAE6-CE57-8F10-FAC0-7546F04DB3C7}"/>
              </a:ext>
            </a:extLst>
          </p:cNvPr>
          <p:cNvSpPr/>
          <p:nvPr/>
        </p:nvSpPr>
        <p:spPr>
          <a:xfrm>
            <a:off x="7328459" y="3249915"/>
            <a:ext cx="2160000" cy="1192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144000" rIns="251999" rtlCol="0" anchor="t" anchorCtr="0"/>
          <a:lstStyle/>
          <a:p>
            <a:pPr algn="r" rtl="1">
              <a:lnSpc>
                <a:spcPct val="150000"/>
              </a:lnSpc>
            </a:pPr>
            <a:r>
              <a:rPr lang="he-IL" altLang="he-IL" sz="1400" b="1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מענים משלימים </a:t>
            </a:r>
            <a:br>
              <a:rPr lang="en-US" altLang="he-IL" sz="1400" b="1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</a:br>
            <a:r>
              <a:rPr lang="he-IL" altLang="he-IL" sz="1400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לעובדים ולמשפחותיהם קבוצות / עיבוד / </a:t>
            </a:r>
            <a:r>
              <a:rPr lang="he-IL" altLang="he-IL" sz="1400" dirty="0" err="1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וובינרים</a:t>
            </a:r>
            <a:endParaRPr lang="he-IL" altLang="he-IL" sz="1400" dirty="0">
              <a:solidFill>
                <a:srgbClr val="41645A"/>
              </a:solidFill>
              <a:ea typeface="Arial Unicode MS" panose="020B0604020202020204" pitchFamily="34" charset="-128"/>
              <a:cs typeface="Calibri" panose="020F0502020204030204" pitchFamily="34" charset="0"/>
            </a:endParaRPr>
          </a:p>
          <a:p>
            <a:pPr marL="0" marR="0" lvl="0" indent="0" algn="r" defTabSz="4572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400" b="0" i="0" u="none" strike="noStrike" kern="1200" cap="none" spc="31" normalizeH="0" baseline="0" noProof="0" dirty="0">
              <a:ln>
                <a:noFill/>
              </a:ln>
              <a:solidFill>
                <a:srgbClr val="40645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9AFA54-ACC2-2BC7-5577-9EB1629EDC27}"/>
              </a:ext>
            </a:extLst>
          </p:cNvPr>
          <p:cNvSpPr/>
          <p:nvPr/>
        </p:nvSpPr>
        <p:spPr>
          <a:xfrm>
            <a:off x="5041568" y="3256155"/>
            <a:ext cx="2160000" cy="1192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144000" rIns="251999" rtlCol="0" anchor="t" anchorCtr="0"/>
          <a:lstStyle/>
          <a:p>
            <a:pPr algn="r" rtl="1">
              <a:lnSpc>
                <a:spcPct val="150000"/>
              </a:lnSpc>
            </a:pPr>
            <a:r>
              <a:rPr lang="he-IL" altLang="he-IL" sz="1400" b="1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תוכנית נאמני חוסן</a:t>
            </a:r>
            <a:br>
              <a:rPr lang="en-US" altLang="he-IL" sz="1400" b="1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</a:br>
            <a:r>
              <a:rPr lang="he-IL" altLang="he-IL" sz="1400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הכשרה וליווי קבוצת עובדים מתנדבים</a:t>
            </a:r>
          </a:p>
          <a:p>
            <a:pPr marL="0" marR="0" lvl="0" indent="0" algn="r" defTabSz="4572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400" b="0" i="0" u="none" strike="noStrike" kern="1200" cap="none" spc="31" normalizeH="0" baseline="0" noProof="0" dirty="0">
              <a:ln>
                <a:noFill/>
              </a:ln>
              <a:solidFill>
                <a:srgbClr val="40645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E2C224F7-5F15-2D7C-4424-ECBD81EDEB67}"/>
              </a:ext>
            </a:extLst>
          </p:cNvPr>
          <p:cNvSpPr/>
          <p:nvPr/>
        </p:nvSpPr>
        <p:spPr>
          <a:xfrm>
            <a:off x="2700789" y="3256599"/>
            <a:ext cx="2160000" cy="1192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144000" rIns="251999" rtlCol="0" anchor="t" anchorCtr="0"/>
          <a:lstStyle/>
          <a:p>
            <a:pPr algn="r" rtl="1">
              <a:lnSpc>
                <a:spcPct val="150000"/>
              </a:lnSpc>
            </a:pPr>
            <a:r>
              <a:rPr lang="he-IL" altLang="he-IL" sz="1400" b="1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מפגשים מעוררי </a:t>
            </a:r>
            <a:br>
              <a:rPr lang="en-US" altLang="he-IL" sz="1400" b="1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</a:br>
            <a:r>
              <a:rPr lang="he-IL" altLang="he-IL" sz="1400" b="1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השראה לעובדים </a:t>
            </a:r>
            <a:br>
              <a:rPr lang="en-US" altLang="he-IL" sz="1400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</a:br>
            <a:r>
              <a:rPr lang="he-IL" altLang="he-IL" sz="1400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צמיחה פוסט טראומטית</a:t>
            </a:r>
          </a:p>
          <a:p>
            <a:pPr marL="0" marR="0" lvl="0" indent="0" algn="r" defTabSz="4572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400" b="0" i="0" u="none" strike="noStrike" kern="1200" cap="none" spc="31" normalizeH="0" baseline="0" noProof="0" dirty="0">
              <a:ln>
                <a:noFill/>
              </a:ln>
              <a:solidFill>
                <a:srgbClr val="40645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A66E14E5-8D23-6402-F4A1-F25701D1D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0811" y="1584203"/>
            <a:ext cx="312887" cy="312887"/>
          </a:xfrm>
          <a:prstGeom prst="rect">
            <a:avLst/>
          </a:prstGeom>
        </p:spPr>
      </p:pic>
      <p:pic>
        <p:nvPicPr>
          <p:cNvPr id="21" name="תמונה 20">
            <a:extLst>
              <a:ext uri="{FF2B5EF4-FFF2-40B4-BE49-F238E27FC236}">
                <a16:creationId xmlns:a16="http://schemas.microsoft.com/office/drawing/2014/main" id="{465D1D64-B4EB-9520-90F4-BFC712D8E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7459" y="1607118"/>
            <a:ext cx="312887" cy="312887"/>
          </a:xfrm>
          <a:prstGeom prst="rect">
            <a:avLst/>
          </a:prstGeom>
        </p:spPr>
      </p:pic>
      <p:pic>
        <p:nvPicPr>
          <p:cNvPr id="22" name="תמונה 21">
            <a:extLst>
              <a:ext uri="{FF2B5EF4-FFF2-40B4-BE49-F238E27FC236}">
                <a16:creationId xmlns:a16="http://schemas.microsoft.com/office/drawing/2014/main" id="{0D1B46F1-6DC8-71D8-12BD-266839969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575" y="1607199"/>
            <a:ext cx="312887" cy="312887"/>
          </a:xfrm>
          <a:prstGeom prst="rect">
            <a:avLst/>
          </a:prstGeom>
        </p:spPr>
      </p:pic>
      <p:pic>
        <p:nvPicPr>
          <p:cNvPr id="23" name="תמונה 22">
            <a:extLst>
              <a:ext uri="{FF2B5EF4-FFF2-40B4-BE49-F238E27FC236}">
                <a16:creationId xmlns:a16="http://schemas.microsoft.com/office/drawing/2014/main" id="{FD982427-55C2-8E20-A665-FC5A05B32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175" y="1615079"/>
            <a:ext cx="312887" cy="312887"/>
          </a:xfrm>
          <a:prstGeom prst="rect">
            <a:avLst/>
          </a:prstGeom>
        </p:spPr>
      </p:pic>
      <p:pic>
        <p:nvPicPr>
          <p:cNvPr id="24" name="תמונה 23">
            <a:extLst>
              <a:ext uri="{FF2B5EF4-FFF2-40B4-BE49-F238E27FC236}">
                <a16:creationId xmlns:a16="http://schemas.microsoft.com/office/drawing/2014/main" id="{3B8057AA-B851-60FC-CF9B-BEBB7A5B8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2018" y="3125815"/>
            <a:ext cx="312887" cy="312887"/>
          </a:xfrm>
          <a:prstGeom prst="rect">
            <a:avLst/>
          </a:prstGeom>
        </p:spPr>
      </p:pic>
      <p:pic>
        <p:nvPicPr>
          <p:cNvPr id="25" name="תמונה 24">
            <a:extLst>
              <a:ext uri="{FF2B5EF4-FFF2-40B4-BE49-F238E27FC236}">
                <a16:creationId xmlns:a16="http://schemas.microsoft.com/office/drawing/2014/main" id="{A6CC6295-FD99-9F1E-60CB-968A73D85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905" y="3107254"/>
            <a:ext cx="312887" cy="312887"/>
          </a:xfrm>
          <a:prstGeom prst="rect">
            <a:avLst/>
          </a:prstGeom>
        </p:spPr>
      </p:pic>
      <p:pic>
        <p:nvPicPr>
          <p:cNvPr id="26" name="תמונה 25">
            <a:extLst>
              <a:ext uri="{FF2B5EF4-FFF2-40B4-BE49-F238E27FC236}">
                <a16:creationId xmlns:a16="http://schemas.microsoft.com/office/drawing/2014/main" id="{42BE4CE9-4C15-92D7-48C8-39D4711B6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775" y="3099971"/>
            <a:ext cx="312887" cy="312887"/>
          </a:xfrm>
          <a:prstGeom prst="rect">
            <a:avLst/>
          </a:prstGeom>
        </p:spPr>
      </p:pic>
      <p:sp>
        <p:nvSpPr>
          <p:cNvPr id="31" name="Rectangle 16">
            <a:extLst>
              <a:ext uri="{FF2B5EF4-FFF2-40B4-BE49-F238E27FC236}">
                <a16:creationId xmlns:a16="http://schemas.microsoft.com/office/drawing/2014/main" id="{BAD40D20-87ED-6748-F6C8-A80087B48471}"/>
              </a:ext>
            </a:extLst>
          </p:cNvPr>
          <p:cNvSpPr/>
          <p:nvPr/>
        </p:nvSpPr>
        <p:spPr>
          <a:xfrm>
            <a:off x="9650343" y="3230907"/>
            <a:ext cx="2160000" cy="1192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144000" rIns="251999" rtlCol="0" anchor="t" anchorCtr="0"/>
          <a:lstStyle/>
          <a:p>
            <a:pPr algn="r" rtl="1">
              <a:lnSpc>
                <a:spcPct val="150000"/>
              </a:lnSpc>
            </a:pPr>
            <a:r>
              <a:rPr lang="he-IL" altLang="he-IL" sz="1400" b="1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אימון תעסוקתי לעובדים </a:t>
            </a:r>
            <a:r>
              <a:rPr lang="he-IL" altLang="he-IL" sz="1400" dirty="0">
                <a:solidFill>
                  <a:srgbClr val="41645A"/>
                </a:solidFill>
                <a:ea typeface="Arial Unicode MS" panose="020B0604020202020204" pitchFamily="34" charset="-128"/>
                <a:cs typeface="Calibri" panose="020F0502020204030204" pitchFamily="34" charset="0"/>
              </a:rPr>
              <a:t>חזרה לתפקוד, יציבות והתמדה</a:t>
            </a:r>
          </a:p>
          <a:p>
            <a:pPr marL="0" marR="0" lvl="0" indent="0" algn="r" defTabSz="4572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400" b="0" i="0" u="none" strike="noStrike" kern="1200" cap="none" spc="31" normalizeH="0" baseline="0" noProof="0" dirty="0">
              <a:ln>
                <a:noFill/>
              </a:ln>
              <a:solidFill>
                <a:srgbClr val="40645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pic>
        <p:nvPicPr>
          <p:cNvPr id="33" name="תמונה 32">
            <a:extLst>
              <a:ext uri="{FF2B5EF4-FFF2-40B4-BE49-F238E27FC236}">
                <a16:creationId xmlns:a16="http://schemas.microsoft.com/office/drawing/2014/main" id="{54A9516F-36BD-0795-5BDD-F3FFB7115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8147" y="3133099"/>
            <a:ext cx="312887" cy="3128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804BE4-694D-52B1-13B6-43F2EFBE057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6072825"/>
            <a:ext cx="12204000" cy="50827"/>
          </a:xfrm>
          <a:prstGeom prst="rect">
            <a:avLst/>
          </a:prstGeom>
        </p:spPr>
      </p:pic>
      <p:pic>
        <p:nvPicPr>
          <p:cNvPr id="8" name="Picture 6" descr="A black background with green text&#10;&#10;Description automatically generated">
            <a:extLst>
              <a:ext uri="{FF2B5EF4-FFF2-40B4-BE49-F238E27FC236}">
                <a16:creationId xmlns:a16="http://schemas.microsoft.com/office/drawing/2014/main" id="{C3AF205F-2AF7-6DBC-BEF5-8EC7CEBDF0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6779" y="6371911"/>
            <a:ext cx="2096335" cy="236476"/>
          </a:xfrm>
          <a:prstGeom prst="rect">
            <a:avLst/>
          </a:prstGeom>
        </p:spPr>
      </p:pic>
      <p:pic>
        <p:nvPicPr>
          <p:cNvPr id="3" name="Picture 2" descr="A phone screen shot of a phone&#10;&#10;AI-generated content may be incorrect.">
            <a:extLst>
              <a:ext uri="{FF2B5EF4-FFF2-40B4-BE49-F238E27FC236}">
                <a16:creationId xmlns:a16="http://schemas.microsoft.com/office/drawing/2014/main" id="{53CC79A4-91D2-94E9-F807-4A65588B2A3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1808"/>
          <a:stretch>
            <a:fillRect/>
          </a:stretch>
        </p:blipFill>
        <p:spPr>
          <a:xfrm>
            <a:off x="308190" y="317242"/>
            <a:ext cx="1799282" cy="2702152"/>
          </a:xfrm>
          <a:prstGeom prst="rect">
            <a:avLst/>
          </a:prstGeom>
        </p:spPr>
      </p:pic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081BC709-C2FE-F048-54F1-E9E6F348BB3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1573"/>
          <a:stretch>
            <a:fillRect/>
          </a:stretch>
        </p:blipFill>
        <p:spPr>
          <a:xfrm>
            <a:off x="308190" y="3133099"/>
            <a:ext cx="1799282" cy="270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805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645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A2A69A-818F-3817-9D62-134CA107C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52D746-2E0B-9D4C-8064-497EB98B2E9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929" y="0"/>
            <a:ext cx="9700142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5B0385-D482-407B-20D2-BF4B211E26A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0" y="6072826"/>
            <a:ext cx="12204000" cy="508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7C8555-0500-FEAF-E707-2068B176C1E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778" y="6371379"/>
            <a:ext cx="2099509" cy="23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548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DDC28-A32A-0F20-09A9-5889B9E18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B5446D4-CF81-DDEF-9D91-D1194532EF2E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4064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E1EBE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6DEFBD-6767-0A2F-7700-F581D4E183DC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E2ECE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E1EBE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6FDDE7-B78F-A841-39DD-F9BC2282D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413" y="4450062"/>
            <a:ext cx="2571175" cy="13868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3ED5B9-D2DD-754E-ABBC-FF32CAF6D08F}"/>
              </a:ext>
            </a:extLst>
          </p:cNvPr>
          <p:cNvSpPr txBox="1"/>
          <p:nvPr/>
        </p:nvSpPr>
        <p:spPr>
          <a:xfrm>
            <a:off x="5531743" y="1129725"/>
            <a:ext cx="1128514" cy="58477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3800" b="1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תודה!</a:t>
            </a:r>
            <a:endParaRPr kumimoji="0" lang="en-IL" sz="3800" b="1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323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ערכת צבעים נט&quot;ל 2024">
      <a:dk1>
        <a:srgbClr val="41645A"/>
      </a:dk1>
      <a:lt1>
        <a:srgbClr val="E1EBE1"/>
      </a:lt1>
      <a:dk2>
        <a:srgbClr val="7EAA85"/>
      </a:dk2>
      <a:lt2>
        <a:srgbClr val="9EC4D0"/>
      </a:lt2>
      <a:accent1>
        <a:srgbClr val="F8E087"/>
      </a:accent1>
      <a:accent2>
        <a:srgbClr val="F6E4DC"/>
      </a:accent2>
      <a:accent3>
        <a:srgbClr val="A5A5A5"/>
      </a:accent3>
      <a:accent4>
        <a:srgbClr val="F8E087"/>
      </a:accent4>
      <a:accent5>
        <a:srgbClr val="7EAA85"/>
      </a:accent5>
      <a:accent6>
        <a:srgbClr val="41645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3342</TotalTime>
  <Words>336</Words>
  <Application>Microsoft Office PowerPoint</Application>
  <PresentationFormat>Widescreen</PresentationFormat>
  <Paragraphs>60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Arial Unicode MS</vt:lpstr>
      <vt:lpstr>Calibri</vt:lpstr>
      <vt:lpstr>Calibri Light</vt:lpstr>
      <vt:lpstr>Symbol</vt:lpstr>
      <vt:lpstr>Office 2013 - 2022 Theme</vt:lpstr>
      <vt:lpstr>PowerPoint Presentation</vt:lpstr>
      <vt:lpstr>  מה מאפיין אירוע טראומטי?</vt:lpstr>
      <vt:lpstr>PowerPoint Presentation</vt:lpstr>
      <vt:lpstr>PowerPoint Presentation</vt:lpstr>
      <vt:lpstr>PowerPoint Presentation</vt:lpstr>
      <vt:lpstr>PowerPoint Presentation</vt:lpstr>
      <vt:lpstr>למסגר את הטראומה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 weintraub</dc:creator>
  <cp:lastModifiedBy>Anat Burstein</cp:lastModifiedBy>
  <cp:revision>69</cp:revision>
  <dcterms:created xsi:type="dcterms:W3CDTF">2024-08-07T06:11:34Z</dcterms:created>
  <dcterms:modified xsi:type="dcterms:W3CDTF">2026-02-10T15:48:30Z</dcterms:modified>
</cp:coreProperties>
</file>